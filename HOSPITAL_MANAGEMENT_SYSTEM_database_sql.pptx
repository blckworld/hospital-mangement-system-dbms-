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8" r:id="rId13"/>
    <p:sldId id="267" r:id="rId14"/>
    <p:sldId id="270" r:id="rId15"/>
    <p:sldId id="269" r:id="rId16"/>
    <p:sldId id="271" r:id="rId17"/>
    <p:sldId id="274" r:id="rId18"/>
    <p:sldId id="275" r:id="rId19"/>
    <p:sldId id="273" r:id="rId20"/>
    <p:sldId id="276" r:id="rId21"/>
    <p:sldId id="277" r:id="rId22"/>
    <p:sldId id="272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16EE7-362E-47F3-AFBB-1E26C49A9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38767-0D33-4D70-95D7-576A45BD5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CFEFF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E3FF8-DF67-4881-A599-16AD49C1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CD5A-72AC-4D0B-9A8C-8693369BDAA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7E875-9327-4030-9CE0-D28A0EB4A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B5A25-59AF-4A37-B1C8-5CB0FDE3F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9E4F-0024-4BE6-B543-D16E60C4D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787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C0B8A-937A-4774-BC57-E8A7E5AC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0D2A6-468C-41C5-97A1-22D394667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EE256-1D68-43B9-B586-BBCE67E4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CD5A-72AC-4D0B-9A8C-8693369BDAA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61C5C-5900-4517-B26B-00BC3F47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3E4A0-3FDF-45BF-9E18-7F14633C9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9E4F-0024-4BE6-B543-D16E60C4D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740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B6E3-14F6-46D1-87BF-0D16B7368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AE67A-2893-4738-9A47-482F3E49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89F91-5936-490D-BA3D-11534FCA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CD5A-72AC-4D0B-9A8C-8693369BDAA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4FD23-B1E8-49C3-B020-BAE46C4E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12A1D-1B1E-4478-A7B4-12C52EBD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9E4F-0024-4BE6-B543-D16E60C4D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031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28B6-96D5-4953-B9C8-F9DE0471F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91D3C-066A-4419-9A05-4351BA469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83F5E-CA9D-4E7A-A320-DC4CE883F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F797F-1185-4704-B79E-70AAFBB21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CD5A-72AC-4D0B-9A8C-8693369BDAA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CC121-7DEE-4045-86B5-D9341303C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94D05-73DC-4FA1-9B3E-0CCE861A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9E4F-0024-4BE6-B543-D16E60C4D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33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4936-A223-4145-9CFA-B46612558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162B5-1BCD-4267-8BD8-7B101844F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57570-19B4-4715-BA73-1FCA28CF3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ECFDD4-6322-47B4-9AAD-CDC7C257F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0991C9-3C88-4A3A-AF3E-75AD066C2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296B13-31AF-48D0-BF07-A2A518FB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CD5A-72AC-4D0B-9A8C-8693369BDAA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D960E5-9FB2-4D69-92F0-F554DF23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49572-AA2C-404E-8F82-402786E7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9E4F-0024-4BE6-B543-D16E60C4D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402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60984-7CBF-4E5F-9BA7-5528BC58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7B3CF-3989-445A-8219-7A50F9F90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CD5A-72AC-4D0B-9A8C-8693369BDAA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35A82-EAFF-4E68-9A9C-D99B39D6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55475-E8F7-4BD8-B4AF-87645FA8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9E4F-0024-4BE6-B543-D16E60C4D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01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D9DF1-997E-46A1-A1C9-77AC1BEE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CD5A-72AC-4D0B-9A8C-8693369BDAA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3D7D8-FD76-4FA2-9F60-DCEB78722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7F199-75BD-4145-A163-05AEC40E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9E4F-0024-4BE6-B543-D16E60C4D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26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28865-0E32-4F0B-83B5-34ACC42B5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1BBD7-AE56-476F-9BE9-085E8AAD3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9C90E-20C5-4C0D-9F4E-474A85552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B62D7-655B-4D86-BECD-CB665B6DD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CD5A-72AC-4D0B-9A8C-8693369BDAA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9D66A-AAC5-416A-88CA-34C060C0B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453F5-6FB0-4F71-8D29-B6BBEDFA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9E4F-0024-4BE6-B543-D16E60C4D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854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3C04-3329-4200-9B42-50CD475EF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D7499E-0FB7-4688-AF30-447C1F14C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67EC5-054C-4C5E-BF65-6DD7DB38D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67DFA-0593-4789-B1A9-713EE010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CD5A-72AC-4D0B-9A8C-8693369BDAA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6CA83-CC9F-4F52-883A-9F9D73AB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523EE-7629-4FAA-92B6-B513246E6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9E4F-0024-4BE6-B543-D16E60C4D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193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7ABDB-DA77-4389-BAC4-3316B859C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9F7C3-D541-4887-9565-CB94ACBF6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950B4-237F-45E2-9CEA-EAF8951AB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CD5A-72AC-4D0B-9A8C-8693369BDAA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622ED-C2E7-433B-BF22-46F4989B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084BF-788F-40BB-BA46-3D5389CDC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9E4F-0024-4BE6-B543-D16E60C4D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989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1C3E5E-7982-4224-89D1-E9542EFAE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C41DB-4A20-481E-9CEB-7197FFBC8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F79A2-20B5-4BA4-90E9-20223461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CD5A-72AC-4D0B-9A8C-8693369BDAA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CA1DD-480C-425F-A8F1-09EB9610B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193C2-E95A-4EF0-8421-36CF5C3F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9E4F-0024-4BE6-B543-D16E60C4D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87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4EFFAB-34FE-46C1-A9BC-3EE597B5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8EA6F-361C-4B8F-9EEC-4F8562677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6735A-9EE4-48A6-811F-1AE7D1FD4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7CD5A-72AC-4D0B-9A8C-8693369BDAA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FC26E-00F7-4852-8E39-E2B644BB2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CEEF3-7408-4097-AA5A-1E759A1A8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B9E4F-0024-4BE6-B543-D16E60C4D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801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8546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publicdomainpictures.net/en/view-image.php?image=341300&amp;picture=the-end-movie-ending-screen-on-cem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5F442-FF0B-441F-83EB-16600C395D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HOSPITAL MANGAEMENT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CE083-B53F-4491-9BB7-69E44CF7E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53886"/>
            <a:ext cx="9144000" cy="903914"/>
          </a:xfrm>
        </p:spPr>
        <p:txBody>
          <a:bodyPr anchor="b"/>
          <a:lstStyle/>
          <a:p>
            <a:pPr algn="r"/>
            <a:r>
              <a:rPr lang="en-US" dirty="0"/>
              <a:t>Pavithra V 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16651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1718-7B85-45AF-8E27-5BF928424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names and its primary keys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0F935-5A9D-4251-BFCA-82FDECF55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7B9A86-425F-4B4C-847F-CB5C733DF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512" y="2791823"/>
            <a:ext cx="4553184" cy="196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31058"/>
      </p:ext>
    </p:extLst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C367-C1CB-4700-9146-1A69B636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 </a:t>
            </a:r>
            <a:endParaRPr lang="en-IN" dirty="0"/>
          </a:p>
        </p:txBody>
      </p:sp>
      <p:pic>
        <p:nvPicPr>
          <p:cNvPr id="4" name="image10.png">
            <a:extLst>
              <a:ext uri="{FF2B5EF4-FFF2-40B4-BE49-F238E27FC236}">
                <a16:creationId xmlns:a16="http://schemas.microsoft.com/office/drawing/2014/main" id="{28CC643C-CD4F-4897-8CAD-6A950D9F780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882946" y="1825625"/>
            <a:ext cx="8426107" cy="435133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172714042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1791-E1D1-4462-9A7C-539997532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Structure</a:t>
            </a:r>
            <a:endParaRPr lang="en-IN" dirty="0"/>
          </a:p>
        </p:txBody>
      </p:sp>
      <p:pic>
        <p:nvPicPr>
          <p:cNvPr id="4" name="image13.png">
            <a:extLst>
              <a:ext uri="{FF2B5EF4-FFF2-40B4-BE49-F238E27FC236}">
                <a16:creationId xmlns:a16="http://schemas.microsoft.com/office/drawing/2014/main" id="{7FBB866B-6788-4B82-9F89-AF1CD4005E8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113482" y="700735"/>
            <a:ext cx="5874306" cy="4351338"/>
          </a:xfrm>
          <a:prstGeom prst="rect">
            <a:avLst/>
          </a:prstGeom>
          <a:ln/>
        </p:spPr>
      </p:pic>
      <p:pic>
        <p:nvPicPr>
          <p:cNvPr id="5" name="image12.png">
            <a:extLst>
              <a:ext uri="{FF2B5EF4-FFF2-40B4-BE49-F238E27FC236}">
                <a16:creationId xmlns:a16="http://schemas.microsoft.com/office/drawing/2014/main" id="{E6BB2786-EA43-4283-9E69-A2EF6ED09A7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514713" y="5177908"/>
            <a:ext cx="5071844" cy="116098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737985996"/>
      </p:ext>
    </p:extLst>
  </p:cSld>
  <p:clrMapOvr>
    <a:masterClrMapping/>
  </p:clrMapOvr>
  <p:transition spd="med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2B80-98B0-4446-96EA-B351C1C7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742"/>
          </a:xfrm>
        </p:spPr>
        <p:txBody>
          <a:bodyPr>
            <a:normAutofit fontScale="90000"/>
          </a:bodyPr>
          <a:lstStyle/>
          <a:p>
            <a:r>
              <a:rPr lang="en-US" dirty="0"/>
              <a:t>Patient table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2993C-9C07-4473-8190-EEBAC5648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8867"/>
            <a:ext cx="10515600" cy="5168096"/>
          </a:xfrm>
        </p:spPr>
        <p:txBody>
          <a:bodyPr>
            <a:normAutofit/>
          </a:bodyPr>
          <a:lstStyle/>
          <a:p>
            <a:r>
              <a:rPr lang="en-US" dirty="0"/>
              <a:t>Create 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Description of patient table:</a:t>
            </a:r>
          </a:p>
          <a:p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4" name="image15.png">
            <a:extLst>
              <a:ext uri="{FF2B5EF4-FFF2-40B4-BE49-F238E27FC236}">
                <a16:creationId xmlns:a16="http://schemas.microsoft.com/office/drawing/2014/main" id="{6AD68BBC-DC63-4603-9194-BF3C3B89364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225275" y="1502619"/>
            <a:ext cx="10204026" cy="1325563"/>
          </a:xfrm>
          <a:prstGeom prst="rect">
            <a:avLst/>
          </a:prstGeom>
          <a:ln/>
        </p:spPr>
      </p:pic>
      <p:pic>
        <p:nvPicPr>
          <p:cNvPr id="7" name="image14.png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332A3A1-7D39-44FF-BD82-A6C4F4E2011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378061" y="3592915"/>
            <a:ext cx="7633500" cy="19129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637529896"/>
      </p:ext>
    </p:extLst>
  </p:cSld>
  <p:clrMapOvr>
    <a:masterClrMapping/>
  </p:clrMapOvr>
  <p:transition spd="med">
    <p:spli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D7856-B601-4606-8B28-0EA49643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349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5BA35-7432-47A3-95D3-FD51C255E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516"/>
            <a:ext cx="10515600" cy="4893447"/>
          </a:xfrm>
        </p:spPr>
        <p:txBody>
          <a:bodyPr/>
          <a:lstStyle/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Insert values in patient table: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image16.png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81BAC15F-B09E-4166-BBBD-473463E2CAA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59498" y="2099063"/>
            <a:ext cx="8816347" cy="391083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583234764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D86A-208C-4F8B-AC45-92697117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6996"/>
          </a:xfrm>
        </p:spPr>
        <p:txBody>
          <a:bodyPr>
            <a:normAutofit fontScale="90000"/>
          </a:bodyPr>
          <a:lstStyle/>
          <a:p>
            <a:r>
              <a:rPr lang="en-US" dirty="0"/>
              <a:t>Doctor table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6C218-58AA-4793-AD79-DBE591D63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294"/>
            <a:ext cx="10515600" cy="4876669"/>
          </a:xfrm>
        </p:spPr>
        <p:txBody>
          <a:bodyPr/>
          <a:lstStyle/>
          <a:p>
            <a:r>
              <a:rPr lang="en-US" dirty="0"/>
              <a:t>Create :</a:t>
            </a:r>
          </a:p>
          <a:p>
            <a:endParaRPr lang="en-US" dirty="0"/>
          </a:p>
          <a:p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Description of Doctor table: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image17.png">
            <a:extLst>
              <a:ext uri="{FF2B5EF4-FFF2-40B4-BE49-F238E27FC236}">
                <a16:creationId xmlns:a16="http://schemas.microsoft.com/office/drawing/2014/main" id="{72ECD016-9C7E-4D64-AA10-CC79EF6D8FF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24125" y="1818229"/>
            <a:ext cx="9647339" cy="916582"/>
          </a:xfrm>
          <a:prstGeom prst="rect">
            <a:avLst/>
          </a:prstGeom>
          <a:ln/>
        </p:spPr>
      </p:pic>
      <p:pic>
        <p:nvPicPr>
          <p:cNvPr id="6" name="image20.png" descr="A picture containing text&#10;&#10;Description automatically generated">
            <a:extLst>
              <a:ext uri="{FF2B5EF4-FFF2-40B4-BE49-F238E27FC236}">
                <a16:creationId xmlns:a16="http://schemas.microsoft.com/office/drawing/2014/main" id="{6C2875D6-5B73-4408-93AC-A1C3AC68BBC4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400638" y="4063287"/>
            <a:ext cx="6693028" cy="211367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231970490"/>
      </p:ext>
    </p:extLst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CEF7-F78F-4162-B7AB-05AC3034B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127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image18.png">
            <a:extLst>
              <a:ext uri="{FF2B5EF4-FFF2-40B4-BE49-F238E27FC236}">
                <a16:creationId xmlns:a16="http://schemas.microsoft.com/office/drawing/2014/main" id="{3E4E6718-D503-4AD0-9F39-210E2B8F22B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535048" y="2845055"/>
            <a:ext cx="6819900" cy="3000375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C58978-4DDC-4D1A-A51A-068EDEB371E8}"/>
              </a:ext>
            </a:extLst>
          </p:cNvPr>
          <p:cNvSpPr txBox="1"/>
          <p:nvPr/>
        </p:nvSpPr>
        <p:spPr>
          <a:xfrm>
            <a:off x="1092666" y="2131774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Insert values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11513072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0B83A-EF93-4816-9DAA-3B1508AE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Nurse Table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58794-4A55-4111-8133-07F7634BB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:</a:t>
            </a:r>
            <a:br>
              <a:rPr lang="en-US" dirty="0"/>
            </a:br>
            <a:endParaRPr lang="en-US" dirty="0"/>
          </a:p>
          <a:p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Description of Doctor table: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image25.png">
            <a:extLst>
              <a:ext uri="{FF2B5EF4-FFF2-40B4-BE49-F238E27FC236}">
                <a16:creationId xmlns:a16="http://schemas.microsoft.com/office/drawing/2014/main" id="{FF047C17-D523-47B6-A913-B905587C9FC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38200" y="2332140"/>
            <a:ext cx="10083566" cy="1036171"/>
          </a:xfrm>
          <a:prstGeom prst="rect">
            <a:avLst/>
          </a:prstGeom>
          <a:ln/>
        </p:spPr>
      </p:pic>
      <p:pic>
        <p:nvPicPr>
          <p:cNvPr id="7" name="image21.png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564632D7-51FE-43B6-807B-1E8EE5478BE4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340529" y="4228052"/>
            <a:ext cx="6551801" cy="21994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179237906"/>
      </p:ext>
    </p:extLst>
  </p:cSld>
  <p:clrMapOvr>
    <a:masterClrMapping/>
  </p:clrMapOvr>
  <p:transition spd="med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AF1A-F93D-43E9-9685-52C88E3E0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7E49C-598B-44DC-B420-B9E362078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values:</a:t>
            </a:r>
          </a:p>
          <a:p>
            <a:endParaRPr lang="en-IN" dirty="0"/>
          </a:p>
        </p:txBody>
      </p:sp>
      <p:pic>
        <p:nvPicPr>
          <p:cNvPr id="4" name="image22.png" descr="Text&#10;&#10;Description automatically generated with low confidence">
            <a:extLst>
              <a:ext uri="{FF2B5EF4-FFF2-40B4-BE49-F238E27FC236}">
                <a16:creationId xmlns:a16="http://schemas.microsoft.com/office/drawing/2014/main" id="{8171B177-D015-48C6-9D25-B72F6FDC433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958130" y="2355270"/>
            <a:ext cx="7118757" cy="1000326"/>
          </a:xfrm>
          <a:prstGeom prst="rect">
            <a:avLst/>
          </a:prstGeom>
          <a:ln/>
        </p:spPr>
      </p:pic>
      <p:pic>
        <p:nvPicPr>
          <p:cNvPr id="5" name="image26.png" descr="Text&#10;&#10;Description automatically generated">
            <a:extLst>
              <a:ext uri="{FF2B5EF4-FFF2-40B4-BE49-F238E27FC236}">
                <a16:creationId xmlns:a16="http://schemas.microsoft.com/office/drawing/2014/main" id="{536F912E-1AE3-4ADB-944B-0C96AC1742F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958130" y="3355596"/>
            <a:ext cx="7118756" cy="268643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287124124"/>
      </p:ext>
    </p:extLst>
  </p:cSld>
  <p:clrMapOvr>
    <a:masterClrMapping/>
  </p:clrMapOvr>
  <p:transition spd="med">
    <p:spli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810F0-778D-4D0E-959E-062DC3FCC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3888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05921-19BF-4D76-9FB6-2D5CF8B9E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0510"/>
            <a:ext cx="10515600" cy="534645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06F9F0-650D-4CA1-A95A-9CAD1C29BB4B}"/>
              </a:ext>
            </a:extLst>
          </p:cNvPr>
          <p:cNvSpPr/>
          <p:nvPr/>
        </p:nvSpPr>
        <p:spPr>
          <a:xfrm>
            <a:off x="3716324" y="1140902"/>
            <a:ext cx="3187816" cy="528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Constraints Violations 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270B68-FA55-4E18-AA14-F67B59DABDD5}"/>
              </a:ext>
            </a:extLst>
          </p:cNvPr>
          <p:cNvSpPr/>
          <p:nvPr/>
        </p:nvSpPr>
        <p:spPr>
          <a:xfrm>
            <a:off x="4790113" y="2238243"/>
            <a:ext cx="2952926" cy="50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constraints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1C2D1D-A38E-4624-B020-243E0CD84FAB}"/>
              </a:ext>
            </a:extLst>
          </p:cNvPr>
          <p:cNvSpPr/>
          <p:nvPr/>
        </p:nvSpPr>
        <p:spPr>
          <a:xfrm>
            <a:off x="4790112" y="4114231"/>
            <a:ext cx="2952925" cy="545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Datatype Violation 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2F35AC-CC02-43B0-BDB6-3D3AA4D57B17}"/>
              </a:ext>
            </a:extLst>
          </p:cNvPr>
          <p:cNvSpPr/>
          <p:nvPr/>
        </p:nvSpPr>
        <p:spPr>
          <a:xfrm>
            <a:off x="4790113" y="3116990"/>
            <a:ext cx="2952926" cy="545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null constraints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FC849C-93E5-4067-BD76-DF045E6A66E7}"/>
              </a:ext>
            </a:extLst>
          </p:cNvPr>
          <p:cNvSpPr/>
          <p:nvPr/>
        </p:nvSpPr>
        <p:spPr>
          <a:xfrm>
            <a:off x="4790113" y="5032736"/>
            <a:ext cx="2952924" cy="545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Size violation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3A60F5-EF46-4ADE-8683-609CDB29A371}"/>
              </a:ext>
            </a:extLst>
          </p:cNvPr>
          <p:cNvCxnSpPr/>
          <p:nvPr/>
        </p:nvCxnSpPr>
        <p:spPr>
          <a:xfrm>
            <a:off x="3984771" y="4320330"/>
            <a:ext cx="8053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898E53-C2AD-4CBC-8569-D663604B9AF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984771" y="3389632"/>
            <a:ext cx="80534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3CEE4B-6DBC-4791-B1E8-A2672D3D3E94}"/>
              </a:ext>
            </a:extLst>
          </p:cNvPr>
          <p:cNvCxnSpPr>
            <a:endCxn id="5" idx="1"/>
          </p:cNvCxnSpPr>
          <p:nvPr/>
        </p:nvCxnSpPr>
        <p:spPr>
          <a:xfrm>
            <a:off x="3993159" y="2491006"/>
            <a:ext cx="7969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89A6D03-46D9-4491-830E-531A57031B9C}"/>
              </a:ext>
            </a:extLst>
          </p:cNvPr>
          <p:cNvCxnSpPr>
            <a:endCxn id="8" idx="1"/>
          </p:cNvCxnSpPr>
          <p:nvPr/>
        </p:nvCxnSpPr>
        <p:spPr>
          <a:xfrm rot="16200000" flipH="1">
            <a:off x="2573652" y="3088916"/>
            <a:ext cx="3635969" cy="79695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864556"/>
      </p:ext>
    </p:extLst>
  </p:cSld>
  <p:clrMapOvr>
    <a:masterClrMapping/>
  </p:clrMapOvr>
  <p:transition spd="med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FAEED-65B6-4401-911E-F1C1CE8F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38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55906-DCA1-4F4E-B550-78788424A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516"/>
            <a:ext cx="10515600" cy="4943781"/>
          </a:xfrm>
        </p:spPr>
        <p:txBody>
          <a:bodyPr/>
          <a:lstStyle/>
          <a:p>
            <a:r>
              <a:rPr lang="en-US" dirty="0"/>
              <a:t>Check constraint violation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Not null violation</a:t>
            </a:r>
          </a:p>
          <a:p>
            <a:endParaRPr lang="en-IN" dirty="0"/>
          </a:p>
        </p:txBody>
      </p:sp>
      <p:pic>
        <p:nvPicPr>
          <p:cNvPr id="4" name="image27.png" descr="Text&#10;&#10;Description automatically generated">
            <a:extLst>
              <a:ext uri="{FF2B5EF4-FFF2-40B4-BE49-F238E27FC236}">
                <a16:creationId xmlns:a16="http://schemas.microsoft.com/office/drawing/2014/main" id="{F2D5F547-314A-4DD6-AB82-1AB8E6B99D1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694577" y="1946245"/>
            <a:ext cx="8556770" cy="1317072"/>
          </a:xfrm>
          <a:prstGeom prst="rect">
            <a:avLst/>
          </a:prstGeom>
          <a:ln/>
        </p:spPr>
      </p:pic>
      <p:pic>
        <p:nvPicPr>
          <p:cNvPr id="5" name="image28.png">
            <a:extLst>
              <a:ext uri="{FF2B5EF4-FFF2-40B4-BE49-F238E27FC236}">
                <a16:creationId xmlns:a16="http://schemas.microsoft.com/office/drawing/2014/main" id="{9BBCAAB3-FEBE-4D14-8AE9-08D877D20DC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694576" y="4382132"/>
            <a:ext cx="8732939" cy="142305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082625267"/>
      </p:ext>
    </p:extLst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0AAD-AF2A-4921-8FA6-9FA6ACF7A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89941-3904-4F6F-A63D-D792A0511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9567"/>
            <a:ext cx="10515600" cy="5287730"/>
          </a:xfrm>
        </p:spPr>
        <p:txBody>
          <a:bodyPr/>
          <a:lstStyle/>
          <a:p>
            <a:r>
              <a:rPr lang="en-US" dirty="0"/>
              <a:t>Datatype violation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Size violation </a:t>
            </a:r>
          </a:p>
        </p:txBody>
      </p:sp>
      <p:pic>
        <p:nvPicPr>
          <p:cNvPr id="4" name="image29.png" descr="Text&#10;&#10;Description automatically generated">
            <a:extLst>
              <a:ext uri="{FF2B5EF4-FFF2-40B4-BE49-F238E27FC236}">
                <a16:creationId xmlns:a16="http://schemas.microsoft.com/office/drawing/2014/main" id="{69C0CEE2-4923-4022-AC38-BB95E4ADF6C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803633" y="1610686"/>
            <a:ext cx="7885652" cy="1400961"/>
          </a:xfrm>
          <a:prstGeom prst="rect">
            <a:avLst/>
          </a:prstGeom>
          <a:ln/>
        </p:spPr>
      </p:pic>
      <p:pic>
        <p:nvPicPr>
          <p:cNvPr id="5" name="image30.png" descr="Text&#10;&#10;Description automatically generated">
            <a:extLst>
              <a:ext uri="{FF2B5EF4-FFF2-40B4-BE49-F238E27FC236}">
                <a16:creationId xmlns:a16="http://schemas.microsoft.com/office/drawing/2014/main" id="{3E20E1AA-5F0B-49F7-B2C1-37C393E0D1B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678281" y="4244830"/>
            <a:ext cx="8304618" cy="148065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30678824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0862-D950-46E9-A76B-761D79F4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8783"/>
          </a:xfrm>
        </p:spPr>
        <p:txBody>
          <a:bodyPr/>
          <a:lstStyle/>
          <a:p>
            <a:r>
              <a:rPr lang="en-US" dirty="0"/>
              <a:t>Primary and Foreign key constraint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75995-C932-4FF4-8AAD-1E4A28201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 constraint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Integrity constraint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image33.png">
            <a:extLst>
              <a:ext uri="{FF2B5EF4-FFF2-40B4-BE49-F238E27FC236}">
                <a16:creationId xmlns:a16="http://schemas.microsoft.com/office/drawing/2014/main" id="{EE1CDC35-21DA-4C56-AF5D-573991261D4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10018" y="2408753"/>
            <a:ext cx="8883942" cy="1020247"/>
          </a:xfrm>
          <a:prstGeom prst="rect">
            <a:avLst/>
          </a:prstGeom>
          <a:ln/>
        </p:spPr>
      </p:pic>
      <p:pic>
        <p:nvPicPr>
          <p:cNvPr id="5" name="image2.png" descr="Text&#10;&#10;Description automatically generated">
            <a:extLst>
              <a:ext uri="{FF2B5EF4-FFF2-40B4-BE49-F238E27FC236}">
                <a16:creationId xmlns:a16="http://schemas.microsoft.com/office/drawing/2014/main" id="{346674F8-8074-41D9-B2FF-AE156BD59CD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68741" y="4337108"/>
            <a:ext cx="8883942" cy="183985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653403299"/>
      </p:ext>
    </p:extLst>
  </p:cSld>
  <p:clrMapOvr>
    <a:masterClrMapping/>
  </p:clrMapOvr>
  <p:transition spd="med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ED44-27DC-497D-8581-081976042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988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BB5C8-0513-45F4-A3A2-0F8D0C309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9508"/>
            <a:ext cx="10515600" cy="5547789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DED1DB-359F-44C2-BDC5-F5E556B1F155}"/>
              </a:ext>
            </a:extLst>
          </p:cNvPr>
          <p:cNvSpPr/>
          <p:nvPr/>
        </p:nvSpPr>
        <p:spPr>
          <a:xfrm>
            <a:off x="4135772" y="1628512"/>
            <a:ext cx="3464653" cy="645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DDL COMMANDS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7095EB-985C-464E-96F5-E831381F9C07}"/>
              </a:ext>
            </a:extLst>
          </p:cNvPr>
          <p:cNvSpPr/>
          <p:nvPr/>
        </p:nvSpPr>
        <p:spPr>
          <a:xfrm>
            <a:off x="5159229" y="2718033"/>
            <a:ext cx="2441196" cy="4530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402E37-51B7-4D35-9BEE-2FAE83D82309}"/>
              </a:ext>
            </a:extLst>
          </p:cNvPr>
          <p:cNvSpPr/>
          <p:nvPr/>
        </p:nvSpPr>
        <p:spPr>
          <a:xfrm>
            <a:off x="5159229" y="3429000"/>
            <a:ext cx="2441196" cy="4530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7D956-8C9D-474A-ACF8-295FA22E2825}"/>
              </a:ext>
            </a:extLst>
          </p:cNvPr>
          <p:cNvSpPr/>
          <p:nvPr/>
        </p:nvSpPr>
        <p:spPr>
          <a:xfrm>
            <a:off x="5159229" y="4269997"/>
            <a:ext cx="2441196" cy="4530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E7D5F3-2B6C-4B81-A8B8-1B510C7B7636}"/>
              </a:ext>
            </a:extLst>
          </p:cNvPr>
          <p:cNvSpPr/>
          <p:nvPr/>
        </p:nvSpPr>
        <p:spPr>
          <a:xfrm>
            <a:off x="5159229" y="5186596"/>
            <a:ext cx="2441196" cy="375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Alter</a:t>
            </a:r>
            <a:endParaRPr lang="en-IN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6AF6C23-49DE-403C-9118-03260F98390B}"/>
              </a:ext>
            </a:extLst>
          </p:cNvPr>
          <p:cNvCxnSpPr>
            <a:endCxn id="9" idx="1"/>
          </p:cNvCxnSpPr>
          <p:nvPr/>
        </p:nvCxnSpPr>
        <p:spPr>
          <a:xfrm rot="16200000" flipH="1">
            <a:off x="3336695" y="3551715"/>
            <a:ext cx="3099784" cy="54528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8F6AE6-0789-4FEC-8E49-E34369E01BF2}"/>
              </a:ext>
            </a:extLst>
          </p:cNvPr>
          <p:cNvCxnSpPr>
            <a:endCxn id="8" idx="1"/>
          </p:cNvCxnSpPr>
          <p:nvPr/>
        </p:nvCxnSpPr>
        <p:spPr>
          <a:xfrm>
            <a:off x="4639112" y="4496500"/>
            <a:ext cx="5201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ED8A0FC-9D65-4E09-A9ED-14E4C7841537}"/>
              </a:ext>
            </a:extLst>
          </p:cNvPr>
          <p:cNvCxnSpPr>
            <a:endCxn id="7" idx="1"/>
          </p:cNvCxnSpPr>
          <p:nvPr/>
        </p:nvCxnSpPr>
        <p:spPr>
          <a:xfrm>
            <a:off x="4613945" y="3655503"/>
            <a:ext cx="54528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FB021B-1F7D-427C-A9A4-008ECCB14891}"/>
              </a:ext>
            </a:extLst>
          </p:cNvPr>
          <p:cNvCxnSpPr>
            <a:endCxn id="6" idx="1"/>
          </p:cNvCxnSpPr>
          <p:nvPr/>
        </p:nvCxnSpPr>
        <p:spPr>
          <a:xfrm>
            <a:off x="4613945" y="2944536"/>
            <a:ext cx="54528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765197"/>
      </p:ext>
    </p:extLst>
  </p:cSld>
  <p:clrMapOvr>
    <a:masterClrMapping/>
  </p:clrMapOvr>
  <p:transition spd="med">
    <p:spli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E015-75D8-41D8-8D67-D036A5EA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81"/>
            <a:ext cx="10515600" cy="855677"/>
          </a:xfrm>
        </p:spPr>
        <p:txBody>
          <a:bodyPr>
            <a:normAutofit/>
          </a:bodyPr>
          <a:lstStyle/>
          <a:p>
            <a:r>
              <a:rPr lang="en-US" dirty="0"/>
              <a:t>Select command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E58B8-25EA-46E0-ADA5-B23804222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Patient </a:t>
            </a:r>
          </a:p>
          <a:p>
            <a:endParaRPr lang="en-IN" dirty="0"/>
          </a:p>
        </p:txBody>
      </p:sp>
      <p:pic>
        <p:nvPicPr>
          <p:cNvPr id="4" name="image1.png" descr="Text&#10;&#10;Description automatically generated">
            <a:extLst>
              <a:ext uri="{FF2B5EF4-FFF2-40B4-BE49-F238E27FC236}">
                <a16:creationId xmlns:a16="http://schemas.microsoft.com/office/drawing/2014/main" id="{2D774332-A31E-45B6-B221-E70D956C8AE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960845" y="1572563"/>
            <a:ext cx="7449892" cy="472252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99614466"/>
      </p:ext>
    </p:extLst>
  </p:cSld>
  <p:clrMapOvr>
    <a:masterClrMapping/>
  </p:clrMapOvr>
  <p:transition spd="med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E015-75D8-41D8-8D67-D036A5EA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81"/>
            <a:ext cx="10515600" cy="855677"/>
          </a:xfrm>
        </p:spPr>
        <p:txBody>
          <a:bodyPr>
            <a:normAutofit/>
          </a:bodyPr>
          <a:lstStyle/>
          <a:p>
            <a:r>
              <a:rPr lang="en-US" dirty="0"/>
              <a:t>Select command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E58B8-25EA-46E0-ADA5-B23804222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Doctor</a:t>
            </a:r>
          </a:p>
          <a:p>
            <a:endParaRPr lang="en-IN" dirty="0"/>
          </a:p>
        </p:txBody>
      </p:sp>
      <p:pic>
        <p:nvPicPr>
          <p:cNvPr id="5" name="image3.png" descr="Text&#10;&#10;Description automatically generated">
            <a:extLst>
              <a:ext uri="{FF2B5EF4-FFF2-40B4-BE49-F238E27FC236}">
                <a16:creationId xmlns:a16="http://schemas.microsoft.com/office/drawing/2014/main" id="{13440B7F-5913-4366-97A4-13892A939BB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205162" y="1976437"/>
            <a:ext cx="7499190" cy="406363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03074630"/>
      </p:ext>
    </p:extLst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E015-75D8-41D8-8D67-D036A5EA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81"/>
            <a:ext cx="10515600" cy="855677"/>
          </a:xfrm>
        </p:spPr>
        <p:txBody>
          <a:bodyPr>
            <a:normAutofit/>
          </a:bodyPr>
          <a:lstStyle/>
          <a:p>
            <a:r>
              <a:rPr lang="en-US" dirty="0"/>
              <a:t>Select command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E58B8-25EA-46E0-ADA5-B23804222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Nurse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image5.png">
            <a:extLst>
              <a:ext uri="{FF2B5EF4-FFF2-40B4-BE49-F238E27FC236}">
                <a16:creationId xmlns:a16="http://schemas.microsoft.com/office/drawing/2014/main" id="{72C40E69-5459-4070-87E3-B4C968DF59E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153373" y="1497741"/>
            <a:ext cx="7081196" cy="448627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096900442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C844-942D-4134-AD9E-301FC7B82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792"/>
            <a:ext cx="10515600" cy="1027446"/>
          </a:xfrm>
        </p:spPr>
        <p:txBody>
          <a:bodyPr>
            <a:normAutofit/>
          </a:bodyPr>
          <a:lstStyle/>
          <a:p>
            <a:r>
              <a:rPr lang="en-US" dirty="0"/>
              <a:t>Delete command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C396C-C8E9-4C78-B215-5B0DA1754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7348"/>
            <a:ext cx="10515600" cy="5069616"/>
          </a:xfrm>
        </p:spPr>
        <p:txBody>
          <a:bodyPr/>
          <a:lstStyle/>
          <a:p>
            <a:r>
              <a:rPr lang="en-US" dirty="0"/>
              <a:t>Patient  						After delete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Before delete</a:t>
            </a:r>
          </a:p>
        </p:txBody>
      </p:sp>
      <p:pic>
        <p:nvPicPr>
          <p:cNvPr id="4" name="image4.png" descr="Text&#10;&#10;Description automatically generated">
            <a:extLst>
              <a:ext uri="{FF2B5EF4-FFF2-40B4-BE49-F238E27FC236}">
                <a16:creationId xmlns:a16="http://schemas.microsoft.com/office/drawing/2014/main" id="{DF815D8E-3112-43A9-A537-6B75C9727BE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38199" y="2887079"/>
            <a:ext cx="4883092" cy="798221"/>
          </a:xfrm>
          <a:prstGeom prst="rect">
            <a:avLst/>
          </a:prstGeom>
          <a:ln/>
        </p:spPr>
      </p:pic>
      <p:pic>
        <p:nvPicPr>
          <p:cNvPr id="5" name="image6.png" descr="Text&#10;&#10;Description automatically generated">
            <a:extLst>
              <a:ext uri="{FF2B5EF4-FFF2-40B4-BE49-F238E27FC236}">
                <a16:creationId xmlns:a16="http://schemas.microsoft.com/office/drawing/2014/main" id="{6D2E1964-D47D-4D45-BEB7-A4ADDE524F8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721291" y="1809152"/>
            <a:ext cx="5788403" cy="473405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586523912"/>
      </p:ext>
    </p:extLst>
  </p:cSld>
  <p:clrMapOvr>
    <a:masterClrMapping/>
  </p:clrMapOvr>
  <p:transition spd="med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C844-942D-4134-AD9E-301FC7B82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792"/>
            <a:ext cx="10515600" cy="1027446"/>
          </a:xfrm>
        </p:spPr>
        <p:txBody>
          <a:bodyPr>
            <a:normAutofit/>
          </a:bodyPr>
          <a:lstStyle/>
          <a:p>
            <a:r>
              <a:rPr lang="en-US" dirty="0"/>
              <a:t>Update command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C396C-C8E9-4C78-B215-5B0DA1754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7348"/>
            <a:ext cx="10515600" cy="5069616"/>
          </a:xfrm>
        </p:spPr>
        <p:txBody>
          <a:bodyPr/>
          <a:lstStyle/>
          <a:p>
            <a:r>
              <a:rPr lang="en-US" dirty="0"/>
              <a:t>Patient  						After update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BeforeUpdate</a:t>
            </a:r>
            <a:endParaRPr lang="en-IN" dirty="0"/>
          </a:p>
        </p:txBody>
      </p:sp>
      <p:pic>
        <p:nvPicPr>
          <p:cNvPr id="6" name="image7.png" descr="Text&#10;&#10;Description automatically generated">
            <a:extLst>
              <a:ext uri="{FF2B5EF4-FFF2-40B4-BE49-F238E27FC236}">
                <a16:creationId xmlns:a16="http://schemas.microsoft.com/office/drawing/2014/main" id="{01212627-1134-40C4-86DB-F231BF589BB1}"/>
              </a:ext>
            </a:extLst>
          </p:cNvPr>
          <p:cNvPicPr/>
          <p:nvPr/>
        </p:nvPicPr>
        <p:blipFill rotWithShape="1">
          <a:blip r:embed="rId2"/>
          <a:srcRect r="4968"/>
          <a:stretch/>
        </p:blipFill>
        <p:spPr>
          <a:xfrm>
            <a:off x="749418" y="2849571"/>
            <a:ext cx="5080931" cy="900308"/>
          </a:xfrm>
          <a:prstGeom prst="rect">
            <a:avLst/>
          </a:prstGeom>
          <a:ln/>
        </p:spPr>
      </p:pic>
      <p:pic>
        <p:nvPicPr>
          <p:cNvPr id="7" name="image8.png" descr="Text&#10;&#10;Description automatically generated">
            <a:extLst>
              <a:ext uri="{FF2B5EF4-FFF2-40B4-BE49-F238E27FC236}">
                <a16:creationId xmlns:a16="http://schemas.microsoft.com/office/drawing/2014/main" id="{B344BD1F-D6FC-4B15-84A5-73C51AFF1E3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096000" y="1584284"/>
            <a:ext cx="5435600" cy="511556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815829473"/>
      </p:ext>
    </p:extLst>
  </p:cSld>
  <p:clrMapOvr>
    <a:masterClrMapping/>
  </p:clrMapOvr>
  <p:transition spd="med">
    <p:spli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C844-942D-4134-AD9E-301FC7B82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458"/>
            <a:ext cx="10515600" cy="1027446"/>
          </a:xfrm>
        </p:spPr>
        <p:txBody>
          <a:bodyPr>
            <a:normAutofit/>
          </a:bodyPr>
          <a:lstStyle/>
          <a:p>
            <a:r>
              <a:rPr lang="en-US" dirty="0"/>
              <a:t>Alter command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C396C-C8E9-4C78-B215-5B0DA1754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7348"/>
            <a:ext cx="10515600" cy="5069616"/>
          </a:xfrm>
        </p:spPr>
        <p:txBody>
          <a:bodyPr/>
          <a:lstStyle/>
          <a:p>
            <a:r>
              <a:rPr lang="en-US" dirty="0"/>
              <a:t>Patient  						After alter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Before alter</a:t>
            </a:r>
          </a:p>
        </p:txBody>
      </p:sp>
      <p:pic>
        <p:nvPicPr>
          <p:cNvPr id="6" name="image9.png">
            <a:extLst>
              <a:ext uri="{FF2B5EF4-FFF2-40B4-BE49-F238E27FC236}">
                <a16:creationId xmlns:a16="http://schemas.microsoft.com/office/drawing/2014/main" id="{FCD6C404-9E0C-4038-8D06-D103F6D19F2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61600" y="2809547"/>
            <a:ext cx="4466745" cy="705439"/>
          </a:xfrm>
          <a:prstGeom prst="rect">
            <a:avLst/>
          </a:prstGeom>
          <a:ln/>
        </p:spPr>
      </p:pic>
      <p:pic>
        <p:nvPicPr>
          <p:cNvPr id="7" name="image11.png">
            <a:extLst>
              <a:ext uri="{FF2B5EF4-FFF2-40B4-BE49-F238E27FC236}">
                <a16:creationId xmlns:a16="http://schemas.microsoft.com/office/drawing/2014/main" id="{F90E1D56-41E2-4FBF-A038-C7AFEF82552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350000" y="1996775"/>
            <a:ext cx="5003800" cy="286444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257684145"/>
      </p:ext>
    </p:extLst>
  </p:cSld>
  <p:clrMapOvr>
    <a:masterClrMapping/>
  </p:clrMapOvr>
  <p:transition spd="med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B57C-93DC-4035-8CF7-03D3C2D6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0060"/>
          </a:xfrm>
        </p:spPr>
        <p:txBody>
          <a:bodyPr/>
          <a:lstStyle/>
          <a:p>
            <a:r>
              <a:rPr lang="en-US" dirty="0"/>
              <a:t>Error code &amp; its explanation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EA430-FA1A-421E-A574-7EA147767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684"/>
            <a:ext cx="10515600" cy="4717279"/>
          </a:xfrm>
        </p:spPr>
        <p:txBody>
          <a:bodyPr/>
          <a:lstStyle/>
          <a:p>
            <a:r>
              <a:rPr lang="en-US" dirty="0"/>
              <a:t>Error 1</a:t>
            </a:r>
          </a:p>
          <a:p>
            <a:endParaRPr lang="en-IN" sz="1800" dirty="0">
              <a:solidFill>
                <a:srgbClr val="222A35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1800" dirty="0">
              <a:solidFill>
                <a:srgbClr val="222A3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1800" dirty="0">
              <a:solidFill>
                <a:srgbClr val="222A35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1800" dirty="0">
              <a:solidFill>
                <a:srgbClr val="222A3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1800" dirty="0">
              <a:solidFill>
                <a:srgbClr val="222A35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222A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After error correction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image2.png" descr="Text&#10;&#10;Description automatically generated">
            <a:extLst>
              <a:ext uri="{FF2B5EF4-FFF2-40B4-BE49-F238E27FC236}">
                <a16:creationId xmlns:a16="http://schemas.microsoft.com/office/drawing/2014/main" id="{0AFFE5D4-0C9A-4188-9BCC-4DEBDF0CCE2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910981" y="1535186"/>
            <a:ext cx="7625591" cy="1236357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43F503-CF19-4772-9C4D-EA373C6C903D}"/>
              </a:ext>
            </a:extLst>
          </p:cNvPr>
          <p:cNvSpPr txBox="1"/>
          <p:nvPr/>
        </p:nvSpPr>
        <p:spPr>
          <a:xfrm>
            <a:off x="1040234" y="2910980"/>
            <a:ext cx="9202723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222A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Error code is ORA-02291, integrity constraint is violated without giving any parent key . This error was corrected after inserting the parent key (</a:t>
            </a:r>
            <a:r>
              <a:rPr lang="en-IN" sz="1800" dirty="0" err="1">
                <a:solidFill>
                  <a:srgbClr val="222A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pat_id</a:t>
            </a:r>
            <a:r>
              <a:rPr lang="en-IN" sz="1800" dirty="0">
                <a:solidFill>
                  <a:srgbClr val="222A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7" name="image19.png">
            <a:extLst>
              <a:ext uri="{FF2B5EF4-FFF2-40B4-BE49-F238E27FC236}">
                <a16:creationId xmlns:a16="http://schemas.microsoft.com/office/drawing/2014/main" id="{52ADC5FD-75E7-4F13-A7D4-33EC40449FF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963024" y="4496499"/>
            <a:ext cx="7104776" cy="94166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80171495"/>
      </p:ext>
    </p:extLst>
  </p:cSld>
  <p:clrMapOvr>
    <a:masterClrMapping/>
  </p:clrMapOvr>
  <p:transition spd="med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B57C-93DC-4035-8CF7-03D3C2D6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0060"/>
          </a:xfrm>
        </p:spPr>
        <p:txBody>
          <a:bodyPr/>
          <a:lstStyle/>
          <a:p>
            <a:r>
              <a:rPr lang="en-US" dirty="0"/>
              <a:t>Error code &amp; its explanation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EA430-FA1A-421E-A574-7EA147767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684"/>
            <a:ext cx="10515600" cy="4717279"/>
          </a:xfrm>
        </p:spPr>
        <p:txBody>
          <a:bodyPr/>
          <a:lstStyle/>
          <a:p>
            <a:r>
              <a:rPr lang="en-US" dirty="0"/>
              <a:t>Error 2</a:t>
            </a:r>
          </a:p>
          <a:p>
            <a:endParaRPr lang="en-IN" sz="1800" dirty="0">
              <a:solidFill>
                <a:srgbClr val="222A35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1800" dirty="0">
              <a:solidFill>
                <a:srgbClr val="222A3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1800" dirty="0">
              <a:solidFill>
                <a:srgbClr val="222A35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1800" dirty="0">
              <a:solidFill>
                <a:srgbClr val="222A3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1800" dirty="0">
              <a:solidFill>
                <a:srgbClr val="222A35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222A35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222A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After error correction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43F503-CF19-4772-9C4D-EA373C6C903D}"/>
              </a:ext>
            </a:extLst>
          </p:cNvPr>
          <p:cNvSpPr txBox="1"/>
          <p:nvPr/>
        </p:nvSpPr>
        <p:spPr>
          <a:xfrm>
            <a:off x="1040234" y="2910980"/>
            <a:ext cx="9202723" cy="1029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222A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Error code is ORA-00928 : missing select keyword , it shows while we inserting the values using insert command “insert into </a:t>
            </a:r>
            <a:r>
              <a:rPr lang="en-IN" sz="1800" dirty="0" err="1">
                <a:solidFill>
                  <a:srgbClr val="222A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table_name</a:t>
            </a:r>
            <a:r>
              <a:rPr lang="en-IN" sz="1800" dirty="0">
                <a:solidFill>
                  <a:srgbClr val="222A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values(variable data type);” in this command we gave ‘value’ instead of ’ values’  so that we encountered such error.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" name="image23.png">
            <a:extLst>
              <a:ext uri="{FF2B5EF4-FFF2-40B4-BE49-F238E27FC236}">
                <a16:creationId xmlns:a16="http://schemas.microsoft.com/office/drawing/2014/main" id="{2C0BBD1F-18FC-45A7-AFB2-A9F6DDC4BFF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847363" y="1638053"/>
            <a:ext cx="7185870" cy="1170059"/>
          </a:xfrm>
          <a:prstGeom prst="rect">
            <a:avLst/>
          </a:prstGeom>
          <a:ln/>
        </p:spPr>
      </p:pic>
      <p:pic>
        <p:nvPicPr>
          <p:cNvPr id="9" name="image24.png">
            <a:extLst>
              <a:ext uri="{FF2B5EF4-FFF2-40B4-BE49-F238E27FC236}">
                <a16:creationId xmlns:a16="http://schemas.microsoft.com/office/drawing/2014/main" id="{56A0F251-8E5D-4E84-9EBC-9F1CF45A7D5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424419" y="4738046"/>
            <a:ext cx="6777605" cy="102925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823156936"/>
      </p:ext>
    </p:extLst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B91BE7-AD4F-44E9-BDDB-DFEB621C37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75869" y="1937885"/>
            <a:ext cx="3381910" cy="2982230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7548949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239</Words>
  <Application>Microsoft Office PowerPoint</Application>
  <PresentationFormat>Widescreen</PresentationFormat>
  <Paragraphs>95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HOSPITAL MANGAEMENT SYSTEM</vt:lpstr>
      <vt:lpstr>Table names and its primary keys</vt:lpstr>
      <vt:lpstr>ER Diagram </vt:lpstr>
      <vt:lpstr>Table Structure</vt:lpstr>
      <vt:lpstr>Patient table</vt:lpstr>
      <vt:lpstr>PowerPoint Presentation</vt:lpstr>
      <vt:lpstr>Doctor table</vt:lpstr>
      <vt:lpstr>PowerPoint Presentation</vt:lpstr>
      <vt:lpstr>Nurse Table</vt:lpstr>
      <vt:lpstr>PowerPoint Presentation</vt:lpstr>
      <vt:lpstr>PowerPoint Presentation</vt:lpstr>
      <vt:lpstr>PowerPoint Presentation</vt:lpstr>
      <vt:lpstr>PowerPoint Presentation</vt:lpstr>
      <vt:lpstr>Primary and Foreign key constraint</vt:lpstr>
      <vt:lpstr>PowerPoint Presentation</vt:lpstr>
      <vt:lpstr>Select command</vt:lpstr>
      <vt:lpstr>Select command</vt:lpstr>
      <vt:lpstr>Select command</vt:lpstr>
      <vt:lpstr>Delete command</vt:lpstr>
      <vt:lpstr>Update command</vt:lpstr>
      <vt:lpstr>Alter command</vt:lpstr>
      <vt:lpstr>Error code &amp; its explanation</vt:lpstr>
      <vt:lpstr>Error code &amp; its explanation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MANGAEMENT SYSTEM</dc:title>
  <dc:creator>pavithra vd</dc:creator>
  <cp:lastModifiedBy>pavithra vd</cp:lastModifiedBy>
  <cp:revision>2</cp:revision>
  <dcterms:created xsi:type="dcterms:W3CDTF">2026-10-02T11:53:32Z</dcterms:created>
  <dcterms:modified xsi:type="dcterms:W3CDTF">2026-10-02T13:38:48Z</dcterms:modified>
</cp:coreProperties>
</file>